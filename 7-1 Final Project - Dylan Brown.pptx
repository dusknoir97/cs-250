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76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91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54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6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0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47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3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51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4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73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2168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24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71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14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26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02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50AF9-C817-4E6F-AFD4-02C486E6DB1D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E4E57-A3E0-47E5-8093-CF424B669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32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hink/topics/agile-vs-waterfall?mhsrc=ibmsearch_a&amp;mhq=agile" TargetMode="External"/><Relationship Id="rId2" Type="http://schemas.openxmlformats.org/officeDocument/2006/relationships/hyperlink" Target="https://www.atlassian.com/agil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crumguides.org/docs/scrumguide/v2020/2020-Scrum-Guide-US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66BBC-2F82-9F4A-C1DF-963E46FD92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Scrum-Agile Development at </a:t>
            </a:r>
            <a:r>
              <a:rPr lang="en-US" dirty="0" err="1"/>
              <a:t>ChadaTech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A6DA5-658C-A581-5CA7-3FBFAA18DA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Dylan Brown</a:t>
            </a:r>
            <a:br>
              <a:rPr lang="en-US" dirty="0"/>
            </a:br>
            <a:r>
              <a:rPr lang="en-US" dirty="0"/>
              <a:t>Southern New Hampshire University</a:t>
            </a:r>
            <a:br>
              <a:rPr lang="en-US" dirty="0"/>
            </a:br>
            <a:r>
              <a:rPr lang="en-US" dirty="0"/>
              <a:t>CS 250 Software Development Lifecycle</a:t>
            </a:r>
            <a:br>
              <a:rPr lang="en-US" dirty="0"/>
            </a:br>
            <a:r>
              <a:rPr lang="en-US" dirty="0"/>
              <a:t>Professor Martinez</a:t>
            </a:r>
            <a:br>
              <a:rPr lang="en-US" dirty="0"/>
            </a:br>
            <a:r>
              <a:rPr lang="en-US" dirty="0"/>
              <a:t>6/13/2026</a:t>
            </a:r>
          </a:p>
        </p:txBody>
      </p:sp>
    </p:spTree>
    <p:extLst>
      <p:ext uri="{BB962C8B-B14F-4D97-AF65-F5344CB8AC3E}">
        <p14:creationId xmlns:p14="http://schemas.microsoft.com/office/powerpoint/2010/main" val="3790899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1FC8D-E5E7-818C-2CAA-989942F2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 – Product Owner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1F018-6012-9974-C446-85F273FF3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Represents customer needs.</a:t>
            </a:r>
          </a:p>
          <a:p>
            <a:r>
              <a:rPr lang="en-US" dirty="0"/>
              <a:t>Prioritizes the product backlog.</a:t>
            </a:r>
          </a:p>
          <a:p>
            <a:r>
              <a:rPr lang="en-US" dirty="0"/>
              <a:t>Ensures features align with business goals.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402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F5EF5-B6F5-CEAD-C6CF-0D095141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549B5-6482-DBE9-1581-C99A7C556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the team stay organized.</a:t>
            </a:r>
          </a:p>
          <a:p>
            <a:r>
              <a:rPr lang="en-US" dirty="0"/>
              <a:t>Facilitates Scrum meetings.</a:t>
            </a:r>
          </a:p>
          <a:p>
            <a:r>
              <a:rPr lang="en-US" dirty="0"/>
              <a:t>Removes obstacles that slow progress.</a:t>
            </a:r>
          </a:p>
        </p:txBody>
      </p:sp>
    </p:spTree>
    <p:extLst>
      <p:ext uri="{BB962C8B-B14F-4D97-AF65-F5344CB8AC3E}">
        <p14:creationId xmlns:p14="http://schemas.microsoft.com/office/powerpoint/2010/main" val="2538689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E965F-579F-19AC-765C-2A9F030B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34A32-18A7-F225-123C-737E021B7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Designs and develops features.</a:t>
            </a:r>
          </a:p>
          <a:p>
            <a:r>
              <a:rPr lang="en-US" dirty="0"/>
              <a:t>Turns user stories into working software.</a:t>
            </a:r>
          </a:p>
          <a:p>
            <a:r>
              <a:rPr lang="en-US" dirty="0"/>
              <a:t>Collaborates to solve problems.</a:t>
            </a:r>
          </a:p>
        </p:txBody>
      </p:sp>
    </p:spTree>
    <p:extLst>
      <p:ext uri="{BB962C8B-B14F-4D97-AF65-F5344CB8AC3E}">
        <p14:creationId xmlns:p14="http://schemas.microsoft.com/office/powerpoint/2010/main" val="1868328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EB06-A87E-5DE9-43FA-E958A7302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DE6EC-2B4D-D737-FB01-716E7FF9E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Creates test cases.</a:t>
            </a:r>
          </a:p>
          <a:p>
            <a:r>
              <a:rPr lang="en-US" dirty="0"/>
              <a:t>Identifies defects and missing requirements.</a:t>
            </a:r>
          </a:p>
          <a:p>
            <a:r>
              <a:rPr lang="en-US" dirty="0"/>
              <a:t>Ensures features meet expectations.</a:t>
            </a:r>
          </a:p>
        </p:txBody>
      </p:sp>
    </p:spTree>
    <p:extLst>
      <p:ext uri="{BB962C8B-B14F-4D97-AF65-F5344CB8AC3E}">
        <p14:creationId xmlns:p14="http://schemas.microsoft.com/office/powerpoint/2010/main" val="2502114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DA29C-A48A-FE57-5CC0-01DC6B00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SDLC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F82FF-DC66-4EB5-47B0-4F8139B24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353312"/>
            <a:ext cx="9404723" cy="489508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Planning</a:t>
            </a:r>
          </a:p>
          <a:p>
            <a:r>
              <a:rPr lang="en-US" dirty="0"/>
              <a:t>Team discusses project goals and priorities.</a:t>
            </a:r>
          </a:p>
          <a:p>
            <a:pPr marL="0" indent="0">
              <a:buNone/>
            </a:pPr>
            <a:r>
              <a:rPr lang="en-US" b="1" dirty="0"/>
              <a:t>Requirements/User Stories</a:t>
            </a:r>
          </a:p>
          <a:p>
            <a:r>
              <a:rPr lang="en-US" dirty="0"/>
              <a:t>Customer needs are written into user stories.</a:t>
            </a:r>
          </a:p>
          <a:p>
            <a:pPr marL="0" indent="0">
              <a:buNone/>
            </a:pPr>
            <a:r>
              <a:rPr lang="en-US" b="1" dirty="0"/>
              <a:t>Design</a:t>
            </a:r>
          </a:p>
          <a:p>
            <a:r>
              <a:rPr lang="en-US" dirty="0"/>
              <a:t>Team plans how features will work.</a:t>
            </a:r>
          </a:p>
          <a:p>
            <a:pPr marL="0" indent="0">
              <a:buNone/>
            </a:pPr>
            <a:r>
              <a:rPr lang="en-US" b="1" dirty="0"/>
              <a:t>Development</a:t>
            </a:r>
          </a:p>
          <a:p>
            <a:r>
              <a:rPr lang="en-US" dirty="0"/>
              <a:t>Features are developed in small increments (sprints).</a:t>
            </a:r>
          </a:p>
          <a:p>
            <a:pPr marL="0" indent="0">
              <a:buNone/>
            </a:pPr>
            <a:r>
              <a:rPr lang="en-US" b="1" dirty="0"/>
              <a:t>Testing</a:t>
            </a:r>
          </a:p>
          <a:p>
            <a:r>
              <a:rPr lang="en-US" dirty="0"/>
              <a:t>Features are tested during development.</a:t>
            </a:r>
          </a:p>
          <a:p>
            <a:pPr marL="0" indent="0">
              <a:buNone/>
            </a:pPr>
            <a:r>
              <a:rPr lang="en-US" b="1" dirty="0"/>
              <a:t>Review</a:t>
            </a:r>
          </a:p>
          <a:p>
            <a:r>
              <a:rPr lang="en-US" dirty="0"/>
              <a:t>Team reviews completed work and receives feedback.</a:t>
            </a:r>
          </a:p>
          <a:p>
            <a:pPr marL="0" indent="0">
              <a:buNone/>
            </a:pPr>
            <a:r>
              <a:rPr lang="en-US" b="1" dirty="0"/>
              <a:t>Retrospective</a:t>
            </a:r>
          </a:p>
          <a:p>
            <a:r>
              <a:rPr lang="en-US" dirty="0"/>
              <a:t>Team reflects on successes and improvements.</a:t>
            </a:r>
          </a:p>
          <a:p>
            <a:pPr marL="0" indent="0">
              <a:buNone/>
            </a:pPr>
            <a:r>
              <a:rPr lang="en-US" b="1" dirty="0"/>
              <a:t>Why It Matters:</a:t>
            </a:r>
          </a:p>
          <a:p>
            <a:r>
              <a:rPr lang="en-US" dirty="0"/>
              <a:t>Agile repeats these phases in cycles, allowing teams to improve continuously instead of waiting until the end of the project.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839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8FA6E-FEC3-C4D5-0A7E-0C15FFCE1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vs. Waterfall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E7ED6555-2DDD-18E5-1BD6-F9A1625231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4527134"/>
              </p:ext>
            </p:extLst>
          </p:nvPr>
        </p:nvGraphicFramePr>
        <p:xfrm>
          <a:off x="1103313" y="1773936"/>
          <a:ext cx="8947150" cy="456285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473575">
                  <a:extLst>
                    <a:ext uri="{9D8B030D-6E8A-4147-A177-3AD203B41FA5}">
                      <a16:colId xmlns:a16="http://schemas.microsoft.com/office/drawing/2014/main" val="2730718545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20221525"/>
                    </a:ext>
                  </a:extLst>
                </a:gridCol>
              </a:tblGrid>
              <a:tr h="76047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Waterfall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667905"/>
                  </a:ext>
                </a:extLst>
              </a:tr>
              <a:tr h="76047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Flexible process.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Fixed process.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034775"/>
                  </a:ext>
                </a:extLst>
              </a:tr>
              <a:tr h="76047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Frequent customer feedback.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Feedback happens later.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7880278"/>
                  </a:ext>
                </a:extLst>
              </a:tr>
              <a:tr h="76047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Small releases.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One final release.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966414"/>
                  </a:ext>
                </a:extLst>
              </a:tr>
              <a:tr h="76047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Easier to adapt to changes.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Difficult to change requirements.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8688333"/>
                  </a:ext>
                </a:extLst>
              </a:tr>
              <a:tr h="76047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Testing throughout development.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Testing near the end.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573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363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429F-5C0B-D0EF-0B3E-BD089AA49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Agile or Waterfall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D1C3F-4D64-DD92-31A7-CCAA14696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Choose Agile When:</a:t>
            </a:r>
          </a:p>
          <a:p>
            <a:r>
              <a:rPr lang="en-US" dirty="0"/>
              <a:t>Requirements may change.</a:t>
            </a:r>
          </a:p>
          <a:p>
            <a:r>
              <a:rPr lang="en-US" dirty="0"/>
              <a:t>Customer feedback is important.</a:t>
            </a:r>
          </a:p>
          <a:p>
            <a:r>
              <a:rPr lang="en-US" dirty="0"/>
              <a:t>Flexibility is needed.</a:t>
            </a:r>
          </a:p>
          <a:p>
            <a:r>
              <a:rPr lang="en-US" dirty="0"/>
              <a:t>Teams want continuous improvement.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Choose Waterfall When:</a:t>
            </a:r>
          </a:p>
          <a:p>
            <a:r>
              <a:rPr lang="en-US" dirty="0"/>
              <a:t>Requirements are clear from the start.</a:t>
            </a:r>
          </a:p>
          <a:p>
            <a:r>
              <a:rPr lang="en-US" dirty="0"/>
              <a:t>Few changes are expected.</a:t>
            </a:r>
          </a:p>
          <a:p>
            <a:r>
              <a:rPr lang="en-US" dirty="0"/>
              <a:t>Projects are highly structured.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131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6B957-20E9-F988-1A3C-65D3AEDF7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and Challenges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72BDA-1627-110B-DEAB-52D3F8C21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Benefits</a:t>
            </a:r>
          </a:p>
          <a:p>
            <a:r>
              <a:rPr lang="en-US" dirty="0"/>
              <a:t>Flexible with changing requirements.</a:t>
            </a:r>
          </a:p>
          <a:p>
            <a:r>
              <a:rPr lang="en-US" dirty="0"/>
              <a:t>Better teamwork and communication.</a:t>
            </a:r>
          </a:p>
          <a:p>
            <a:r>
              <a:rPr lang="en-US" dirty="0"/>
              <a:t>Faster feedback from users.</a:t>
            </a:r>
          </a:p>
          <a:p>
            <a:r>
              <a:rPr lang="en-US" dirty="0"/>
              <a:t>Continuous testing and improvements.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Challenges</a:t>
            </a:r>
          </a:p>
          <a:p>
            <a:r>
              <a:rPr lang="en-US" dirty="0"/>
              <a:t>Requires frequent communication.</a:t>
            </a:r>
          </a:p>
          <a:p>
            <a:r>
              <a:rPr lang="en-US" dirty="0"/>
              <a:t>Priorities may change often.</a:t>
            </a:r>
          </a:p>
          <a:p>
            <a:r>
              <a:rPr lang="en-US" dirty="0"/>
              <a:t>Team coordination can take more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261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9CFF0-C165-FA3D-E1BB-79417463E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52407-C2F7-CC66-6393-0E30A200A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Atlassian. (2025). </a:t>
            </a:r>
            <a:r>
              <a:rPr lang="en-US" i="1" dirty="0"/>
              <a:t>Agile project management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https://www.atlassian.com/agile</a:t>
            </a:r>
            <a:endParaRPr lang="en-US" dirty="0"/>
          </a:p>
          <a:p>
            <a:r>
              <a:rPr lang="en-US" dirty="0"/>
              <a:t>IBM. (2024). </a:t>
            </a:r>
            <a:r>
              <a:rPr lang="en-US" i="1" dirty="0"/>
              <a:t>Agile software development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https://www.ibm.com/think/topics/agile-vs-waterfall?mhsrc=ibmsearch_a&amp;mhq=agile</a:t>
            </a:r>
            <a:endParaRPr lang="en-US" dirty="0"/>
          </a:p>
          <a:p>
            <a:r>
              <a:rPr lang="en-US" dirty="0"/>
              <a:t>Schwaber, K., &amp; Sutherland, J. (2020). </a:t>
            </a:r>
            <a:r>
              <a:rPr lang="en-US" i="1" dirty="0"/>
              <a:t>The Scrum guide</a:t>
            </a:r>
            <a:r>
              <a:rPr lang="en-US" dirty="0"/>
              <a:t>. Scrum.org. </a:t>
            </a:r>
            <a:r>
              <a:rPr lang="en-US" dirty="0">
                <a:hlinkClick r:id="rId4"/>
              </a:rPr>
              <a:t>https://scrumguides.org/docs/scrumguide/v2020/2020-Scrum-Guide-US.pdf</a:t>
            </a:r>
            <a:endParaRPr lang="en-US" dirty="0"/>
          </a:p>
          <a:p>
            <a:r>
              <a:rPr lang="en-US" dirty="0"/>
              <a:t>Project Management Institute. (2021). </a:t>
            </a:r>
            <a:r>
              <a:rPr lang="en-US" i="1" dirty="0"/>
              <a:t>Agile practice guide</a:t>
            </a:r>
            <a:r>
              <a:rPr lang="en-US" dirty="0"/>
              <a:t>. PMI.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015580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21</TotalTime>
  <Words>422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Scrum-Agile Development at ChadaTech</vt:lpstr>
      <vt:lpstr>Team Members – Product Owner</vt:lpstr>
      <vt:lpstr>Scrum Master</vt:lpstr>
      <vt:lpstr>Development Team</vt:lpstr>
      <vt:lpstr>Testers</vt:lpstr>
      <vt:lpstr>Agile SDLC Phases</vt:lpstr>
      <vt:lpstr>Agile vs. Waterfall</vt:lpstr>
      <vt:lpstr>Choosing Agile or Waterfall</vt:lpstr>
      <vt:lpstr>Benefits and Challenges of Agile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Brown, Dylan</dc:creator>
  <cp:lastModifiedBy>Brown, Dylan</cp:lastModifiedBy>
  <cp:revision>7</cp:revision>
  <dcterms:created xsi:type="dcterms:W3CDTF">2026-06-14T00:12:58Z</dcterms:created>
  <dcterms:modified xsi:type="dcterms:W3CDTF">2026-06-14T00:34:30Z</dcterms:modified>
</cp:coreProperties>
</file>